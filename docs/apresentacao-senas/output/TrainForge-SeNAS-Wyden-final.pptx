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a3656add14859" /><Relationship Type="http://schemas.openxmlformats.org/officeDocument/2006/relationships/extended-properties" Target="/docProps/app.xml" Id="R54cdb79dadf24efc" /><Relationship Type="http://schemas.openxmlformats.org/officeDocument/2006/relationships/officeDocument" Target="/ppt/presentation.xml" Id="Rfec9eae7d87e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f411b629c64b4a"/>
  </p:sldMasterIdLst>
  <p:notesMasterIdLst>
    <p:notesMasterId xmlns:r="http://schemas.openxmlformats.org/officeDocument/2006/relationships" r:id="R8d50b71bcad243ec"/>
  </p:notesMasterIdLst>
  <p:sldIdLst>
    <p:sldId xmlns:r="http://schemas.openxmlformats.org/officeDocument/2006/relationships" id="256" r:id="R085f59c1dc8c4e15"/>
    <p:sldId xmlns:r="http://schemas.openxmlformats.org/officeDocument/2006/relationships" id="257" r:id="R751967dbbefd44e0"/>
    <p:sldId xmlns:r="http://schemas.openxmlformats.org/officeDocument/2006/relationships" id="258" r:id="Rfbe3d5ecc01c49a7"/>
    <p:sldId xmlns:r="http://schemas.openxmlformats.org/officeDocument/2006/relationships" id="259" r:id="R239fde6f2b404ef0"/>
    <p:sldId xmlns:r="http://schemas.openxmlformats.org/officeDocument/2006/relationships" id="260" r:id="Rec053c33e0b8402d"/>
    <p:sldId xmlns:r="http://schemas.openxmlformats.org/officeDocument/2006/relationships" id="261" r:id="Rc61eb3dec0b841d1"/>
    <p:sldId xmlns:r="http://schemas.openxmlformats.org/officeDocument/2006/relationships" id="262" r:id="R5b84b8883e3448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45cae411f46d1" /><Relationship Type="http://schemas.openxmlformats.org/officeDocument/2006/relationships/slideMaster" Target="/ppt/slideMasters/slideMaster1.xml" Id="R4bf411b629c64b4a" /><Relationship Type="http://schemas.openxmlformats.org/officeDocument/2006/relationships/notesMaster" Target="/ppt/notesMasters/notesMaster1.xml" Id="R8d50b71bcad243ec" /><Relationship Type="http://schemas.openxmlformats.org/officeDocument/2006/relationships/presProps" Target="/ppt/presProps.xml" Id="R022679b568de4a19" /><Relationship Type="http://schemas.openxmlformats.org/officeDocument/2006/relationships/tableStyles" Target="/ppt/tableStyles.xml" Id="R7e699d16594e469a" /><Relationship Type="http://schemas.openxmlformats.org/officeDocument/2006/relationships/slide" Target="/ppt/slides/slide1.xml" Id="R085f59c1dc8c4e15" /><Relationship Type="http://schemas.openxmlformats.org/officeDocument/2006/relationships/slide" Target="/ppt/slides/slide2.xml" Id="R751967dbbefd44e0" /><Relationship Type="http://schemas.openxmlformats.org/officeDocument/2006/relationships/slide" Target="/ppt/slides/slide3.xml" Id="Rfbe3d5ecc01c49a7" /><Relationship Type="http://schemas.openxmlformats.org/officeDocument/2006/relationships/slide" Target="/ppt/slides/slide4.xml" Id="R239fde6f2b404ef0" /><Relationship Type="http://schemas.openxmlformats.org/officeDocument/2006/relationships/slide" Target="/ppt/slides/slide5.xml" Id="Rec053c33e0b8402d" /><Relationship Type="http://schemas.openxmlformats.org/officeDocument/2006/relationships/slide" Target="/ppt/slides/slide6.xml" Id="Rc61eb3dec0b841d1" /><Relationship Type="http://schemas.openxmlformats.org/officeDocument/2006/relationships/slide" Target="/ppt/slides/slide7.xml" Id="R5b84b8883e34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e8e23e4a97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0b7db0c6c433e" /><Relationship Type="http://schemas.openxmlformats.org/officeDocument/2006/relationships/notesMaster" Target="/ppt/notesMasters/notesMaster1.xml" Id="R98abdb046b454d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db12da5d644597" /><Relationship Type="http://schemas.openxmlformats.org/officeDocument/2006/relationships/notesMaster" Target="/ppt/notesMasters/notesMaster1.xml" Id="R27750afd56db4a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e87696ccbf4792" /><Relationship Type="http://schemas.openxmlformats.org/officeDocument/2006/relationships/notesMaster" Target="/ppt/notesMasters/notesMaster1.xml" Id="Rc36addcb1ed74a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8835a2cfba4d28" /><Relationship Type="http://schemas.openxmlformats.org/officeDocument/2006/relationships/notesMaster" Target="/ppt/notesMasters/notesMaster1.xml" Id="Rd650e10ee1ec4a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ce0e7ea0c4548" /><Relationship Type="http://schemas.openxmlformats.org/officeDocument/2006/relationships/notesMaster" Target="/ppt/notesMasters/notesMaster1.xml" Id="R1a6df38412dc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b9078ee7664731" /><Relationship Type="http://schemas.openxmlformats.org/officeDocument/2006/relationships/notesMaster" Target="/ppt/notesMasters/notesMaster1.xml" Id="Rf8d87167fb5147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96a1dd24194270" /><Relationship Type="http://schemas.openxmlformats.org/officeDocument/2006/relationships/notesMaster" Target="/ppt/notesMasters/notesMaster1.xml" Id="R98df33680c6b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Apresentação</a:t>
            </a:r>
          </a:p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o evento, o projeto, o cliente, a equipe e o orientador. O projeto pretende ajudar iniciantes e pessoas experientes a organizar treino, movimento e alimentação. Antes da apresentação oficial, preencher os campos da capa e substituir a indicação do LTD pela logo fornecida pela faculdade. O material recebido não identifica esses dados e não contém a logo do LTD.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C:/Users/richa/Downloads/SeNAS - Seminários de Negócios e Arquitetura de Soluções.pdf</a:t>
            </a:r>
          </a:p>
          <a:p xmlns:a="http://schemas.openxmlformats.org/drawingml/2006/main">
            <a:r>
              <a:t>C:/Users/richa/Downloads/SDD.md (modelo sem preenchimento)</a:t>
            </a:r>
          </a:p>
          <a:p xmlns:a="http://schemas.openxmlformats.org/drawingml/2006/main">
            <a:r>
              <a:t>C:/dev/TrainForge/trainforge/docs/planejamento/pitch-e-decisoes.md</a:t>
            </a:r>
          </a:p>
          <a:p xmlns:a="http://schemas.openxmlformats.org/drawingml/2006/main">
            <a:r>
              <a:t>https://wyden.com.br/polos-e-unidades/centro-universitario-unimetrocamp-wyden-vila-industrial-campinas-campinas-sp</a:t>
            </a:r>
          </a:p>
          <a:p xmlns:a="http://schemas.openxmlformats.org/drawingml/2006/main">
            <a:r>
              <a:t>https://cdn.portal.estacio.br/PPC_Enfermagem_2026_c54f0ad326.pdf (logo extraída da capa, sem alteração)</a:t>
            </a:r>
          </a:p>
          <a:p xmlns:a="http://schemas.openxmlformats.org/drawingml/2006/main">
            <a:r>
              <a:t>https://peiunimetrocamp.com.br/extensao/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Problema</a:t>
            </a:r>
          </a:p>
          <a:p xmlns:a="http://schemas.openxmlformats.org/drawingml/2006/main">
            <a:r>
              <a:t>Tempo sugerido: 1 minuto e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a dor descrita no pitch: quem começa encontra muita informação solta, enquanto quem já pratica precisa conciliar planos, alimentação e histórico. O problema é organizar uma rotina compatível com o contexto da pessoa. Esta é a hipótese de produto documentada; confirmar com o cliente identificado na capa, pois o SDD recebido ainda não apresenta entrevistas nem dados do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C:/dev/TrainForge/trainforge/docs/planejamento/pitch-e-decisoes.md</a:t>
            </a:r>
          </a:p>
          <a:p xmlns:a="http://schemas.openxmlformats.org/drawingml/2006/main">
            <a:r>
              <a:t>C:/dev/TrainForge/trainforge/docs/planejamento/README.md</a:t>
            </a:r>
          </a:p>
          <a:p xmlns:a="http://schemas.openxmlformats.org/drawingml/2006/main">
            <a:r>
              <a:t>C:/Users/richa/Downloads/SDD.md (modelo sem preenchimento)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Escopo</a:t>
            </a:r>
          </a:p>
          <a:p xmlns:a="http://schemas.openxmlformats.org/drawingml/2006/main">
            <a:r>
              <a:t>Tempo sugerido: 1 minuto e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Mostre os quatro blocos da visão integrada. O modo guiado oferece orientação e o modo livre permite personalização. O projeto considera academia, casa e ar livre, além de modalidades diferentes. Android e público de Portugal constam como direção inicial. O recorte final do MVP ainda não foi fechado: esta apresentação não aprova nova priorização. Fotografia, sensores, sincronização e nutrição guiada permanecem objetivos de desenvolvimento. Conteúdo humano com origem verificável é a base pretendida; não há prescrição de treino por IA aprovada.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C:/dev/TrainForge/trainforge/docs/planejamento/README.md</a:t>
            </a:r>
          </a:p>
          <a:p xmlns:a="http://schemas.openxmlformats.org/drawingml/2006/main">
            <a:r>
              <a:t>C:/dev/TrainForge/trainforge/docs/planejamento/pitch-e-decisoes.md</a:t>
            </a:r>
          </a:p>
          <a:p xmlns:a="http://schemas.openxmlformats.org/drawingml/2006/main">
            <a:r>
              <a:t>C:/dev/TrainForge/trainforge/docs/planejamento/arquitetura-e-contratos.md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Requisitos funcionais</a:t>
            </a:r>
          </a:p>
          <a:p xmlns:a="http://schemas.openxmlformats.org/drawingml/2006/main">
            <a:r>
              <a:t>Tempo sugerido: 1 minuto e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requisitos como ações que a pessoa deve conseguir executar. Os IDs R01–R18 são os identificadores reais da visão central; não renomear como RF01–RF05 sem consolidar o SDD. Cada linha resume vários requisitos e não afirma implementação completa. R06 cobre contextos de saúde e retorno, com limites de orientação; R18 reúne confiança e sustentação. Imagens e dispositivos exigem confirmação, tratamento de origem e pesquisa de viabilidade.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C:/dev/TrainForge/trainforge/docs/planejamento/README.md</a:t>
            </a:r>
          </a:p>
          <a:p xmlns:a="http://schemas.openxmlformats.org/drawingml/2006/main">
            <a:r>
              <a:t>C:/Users/richa/Downloads/SDD.md (modelo sem preenchimento)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Arquitetura</a:t>
            </a:r>
          </a:p>
          <a:p xmlns:a="http://schemas.openxmlformats.org/drawingml/2006/main">
            <a:r>
              <a:t>Tempo sugerido: 1 minuto e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Percorra o diagrama do aplicativo para o servidor e o banco. A base Flutter separa features em data, domain e presentation; repositórios usam classes API e Dio. O servidor Fastify/TypeScript está no projeto bootcamp-treinos-api e usa Prisma/PostgreSQL. Google Sign-In e autenticação Bearer fazem parte do fluxo mobile. A documentação registra problemas pendentes de sessão, histórico e recorrência, portanto a arquitetura não implica produto validado em produção. A linha inferior apresenta hipóteses de evolução, não serviços já integrados. A geração de planos por IA ainda existe na base herdada, mas não é a direção aprovada do conteúdo futuro.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C:/dev/TrainForge/trainforge/documentacao-tecnica.md</a:t>
            </a:r>
          </a:p>
          <a:p xmlns:a="http://schemas.openxmlformats.org/drawingml/2006/main">
            <a:r>
              <a:t>C:/dev/TrainForge/trainforge/docs/planejamento/arquitetura-e-contratos.md</a:t>
            </a:r>
          </a:p>
          <a:p xmlns:a="http://schemas.openxmlformats.org/drawingml/2006/main">
            <a:r>
              <a:t>C:/dev/bootcamp-treinos-api/prisma/schema.prisma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Entidades</a:t>
            </a:r>
          </a:p>
          <a:p xmlns:a="http://schemas.openxmlformats.org/drawingml/2006/main">
            <a:r>
              <a:t>Tempo sugerido: 1 minuto e 15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que um usuário pode ter vários planos; cada plano reúne dias; cada dia tem exercícios e sessões. A sessão representa uma execução com início e conclusão. Os nomes técnicos no diagrama correspondem ao schema existente; os campos são uma seleção didática, não a lista completa. Session, Account e MobileRefreshToken são entidades de autenticação e não substituem WorkoutSession. Alimentação, fontes e execução multimodal aparecem na evolução conceitual; não afirmar que o banco já possui essas tabelas.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C:/dev/bootcamp-treinos-api/prisma/schema.prisma</a:t>
            </a:r>
          </a:p>
          <a:p xmlns:a="http://schemas.openxmlformats.org/drawingml/2006/main">
            <a:r>
              <a:t>C:/dev/TrainForge/trainforge/documentacao-tecnica.md</a:t>
            </a:r>
          </a:p>
          <a:p xmlns:a="http://schemas.openxmlformats.org/drawingml/2006/main">
            <a:r>
              <a:t>C:/dev/TrainForge/trainforge/docs/planejamento/arquitetura-e-contratos.md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Uso da IA</a:t>
            </a:r>
          </a:p>
          <a:p xmlns:a="http://schemas.openxmlformats.org/drawingml/2006/main">
            <a:r>
              <a:t>Tempo sugerido: 1 minuto e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o fluxo observado nesta colaboração: instruções em linguagem natural, consulta da documentação e do código, propostas e execução por ferramentas locais, validação e registro das evidências. A equipe deve confirmar os passos que efetivamente utiliza antes de apresentar. Codex conversacional não significa que a aplicação prescreve treinos por IA. O produto pretendido usa programas humanos com origem verificável. A base técnica herdada ainda contém geração de planos por IA, cuja revisão está pendente. Cite benefícios de apoio à análise/documentação e limites como respostas incorretas, inferências não demonstradas e necessidade de revisão. O roteiro SeNAS atribui as decisões à equipe, nunca ao cliente ou à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C:/Users/richa/Downloads/SeNAS - Seminários de Negócios e Arquitetura de Soluções.pdf</a:t>
            </a:r>
          </a:p>
          <a:p xmlns:a="http://schemas.openxmlformats.org/drawingml/2006/main">
            <a:r>
              <a:t>C:/dev/TrainForge/trainforge/docs/planejamento/README.md</a:t>
            </a:r>
          </a:p>
          <a:p xmlns:a="http://schemas.openxmlformats.org/drawingml/2006/main">
            <a:r>
              <a:t>C:/dev/TrainForge/trainforge/documentacao-tecnica.md</a:t>
            </a:r>
          </a:p>
          <a:p xmlns:a="http://schemas.openxmlformats.org/drawingml/2006/main">
            <a:r>
              <a:t>C:/dev/TrainForge/trainforge/AGENTS.md</a:t>
            </a:r>
          </a:p>
          <a:p xmlns:a="http://schemas.openxmlformats.org/drawingml/2006/main">
            <a:r>
              <a:t>Conversa atual com 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 editorial: proposta para o kickoff SeNAS. Funcionalidades planejadas não são recursos concluídos. A fonte tipográfica foi escolhida para a apresentação; não foi identificada como fonte oficial da instituição.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82e42fe614e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ab86e068940ff" /><Relationship Type="http://schemas.openxmlformats.org/officeDocument/2006/relationships/slideLayout" Target="/ppt/slideLayouts/slideLayout1.xml" Id="Rd5861e67d3da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61e67d3da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117b5000b47d2" /><Relationship Type="http://schemas.openxmlformats.org/officeDocument/2006/relationships/image" Target="/ppt/media/image.jpeg" Id="R43a21bb9a6d9402a" /><Relationship Type="http://schemas.openxmlformats.org/officeDocument/2006/relationships/notesSlide" Target="/ppt/notesSlides/notesSlide1.xml" Id="R28bdcf051f9947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41891a9684ecd" /><Relationship Type="http://schemas.openxmlformats.org/officeDocument/2006/relationships/notesSlide" Target="/ppt/notesSlides/notesSlide2.xml" Id="R6f674ebb8fc6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ba8f4826a44c4" /><Relationship Type="http://schemas.openxmlformats.org/officeDocument/2006/relationships/notesSlide" Target="/ppt/notesSlides/notesSlide3.xml" Id="Rb7bf63674994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9d6ab357a49be" /><Relationship Type="http://schemas.openxmlformats.org/officeDocument/2006/relationships/notesSlide" Target="/ppt/notesSlides/notesSlide4.xml" Id="R07173b10297d43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3f59f15864ce7" /><Relationship Type="http://schemas.openxmlformats.org/officeDocument/2006/relationships/notesSlide" Target="/ppt/notesSlides/notesSlide5.xml" Id="R62f92d4d1ed04f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e430e88bf475c" /><Relationship Type="http://schemas.openxmlformats.org/officeDocument/2006/relationships/notesSlide" Target="/ppt/notesSlides/notesSlide6.xml" Id="R753807b5129747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ab1d649294144" /><Relationship Type="http://schemas.openxmlformats.org/officeDocument/2006/relationships/notesSlide" Target="/ppt/notesSlides/notesSlide7.xml" Id="Re3793f2553c24d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NAS">
            <a:extLst xmlns:a="http://schemas.openxmlformats.org/drawingml/2006/main">
              <a:ext uri="{FF2B5EF4-FFF2-40B4-BE49-F238E27FC236}">
                <a16:creationId xmlns:a16="http://schemas.microsoft.com/office/drawing/2014/main" id="{6F1685D8-385B-4C6F-95B9-5AFB5D3F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SeNAS</a:t>
            </a:r>
          </a:p>
        </p:txBody>
      </p:sp>
      <p:sp>
        <p:nvSpPr>
          <p:cNvPr id="2" name="Seminários de Negócios e Arquitetura de Soluções">
            <a:extLst xmlns:a="http://schemas.openxmlformats.org/drawingml/2006/main">
              <a:ext uri="{FF2B5EF4-FFF2-40B4-BE49-F238E27FC236}">
                <a16:creationId xmlns:a16="http://schemas.microsoft.com/office/drawing/2014/main" id="{20542231-07DA-4E73-B2D2-C34ACD6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Seminários de Negócios e Arquitetura de Soluções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21bb9a6d9402a"/>
          <a:stretch xmlns:a="http://schemas.openxmlformats.org/drawingml/2006/main"/>
        </p:blipFill>
        <p:spPr>
          <a:xfrm xmlns:a="http://schemas.openxmlformats.org/drawingml/2006/main">
            <a:off x="10039350" y="382402"/>
            <a:ext cx="1438275" cy="1473570"/>
          </a:xfrm>
          <a:prstGeom xmlns:a="http://schemas.openxmlformats.org/drawingml/2006/main" prst="rect">
            <a:avLst/>
          </a:prstGeom>
        </p:spPr>
      </p:pic>
      <p:sp>
        <p:nvSpPr>
          <p:cNvPr id="4" name="TrainForge">
            <a:extLst xmlns:a="http://schemas.openxmlformats.org/drawingml/2006/main">
              <a:ext uri="{FF2B5EF4-FFF2-40B4-BE49-F238E27FC236}">
                <a16:creationId xmlns:a16="http://schemas.microsoft.com/office/drawing/2014/main" id="{7922D4CF-D8B8-4FDD-BCCE-F010B025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00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TrainForge</a:t>
            </a:r>
          </a:p>
        </p:txBody>
      </p:sp>
      <p:sp>
        <p:nvSpPr>
          <p:cNvPr id="5" name="Guia integrado de treino, movimento&#10;e alimentação">
            <a:extLst xmlns:a="http://schemas.openxmlformats.org/drawingml/2006/main">
              <a:ext uri="{FF2B5EF4-FFF2-40B4-BE49-F238E27FC236}">
                <a16:creationId xmlns:a16="http://schemas.microsoft.com/office/drawing/2014/main" id="{FCA8D319-6298-4BE9-886C-65156F63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718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Guia integrado de treino, movimento</a:t>
            </a:r>
          </a:p>
          <a:p xmlns:a="http://schemas.openxmlformats.org/drawingml/2006/main">
            <a:pPr algn="l">
              <a:defRPr sz="270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e alimentação</a:t>
            </a:r>
          </a:p>
        </p:txBody>
      </p:sp>
      <p:sp>
        <p:nvSpPr>
          <p:cNvPr id="6" name="Kickoff do projeto / 2026.2">
            <a:extLst xmlns:a="http://schemas.openxmlformats.org/drawingml/2006/main">
              <a:ext uri="{FF2B5EF4-FFF2-40B4-BE49-F238E27FC236}">
                <a16:creationId xmlns:a16="http://schemas.microsoft.com/office/drawing/2014/main" id="{7B974001-C77B-4728-B1B8-DDA57E89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47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9471F"/>
                </a:solidFill>
                <a:latin typeface="Arial"/>
                <a:ea typeface="Arial"/>
                <a:cs typeface="Arial"/>
              </a:rPr>
              <a:t>Kickoff do projeto / 2026.2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512F2-E180-4858-A204-F319232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8" name="Cliente: [nome do cliente]">
            <a:extLst xmlns:a="http://schemas.openxmlformats.org/drawingml/2006/main">
              <a:ext uri="{FF2B5EF4-FFF2-40B4-BE49-F238E27FC236}">
                <a16:creationId xmlns:a16="http://schemas.microsoft.com/office/drawing/2014/main" id="{0A3C3BA0-BFF7-4D07-833C-AFB509E9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Cliente: [nome do cliente]</a:t>
            </a:r>
          </a:p>
        </p:txBody>
      </p:sp>
      <p:sp>
        <p:nvSpPr>
          <p:cNvPr id="9" name="Integrantes: [nomes da equipe]">
            <a:extLst xmlns:a="http://schemas.openxmlformats.org/drawingml/2006/main">
              <a:ext uri="{FF2B5EF4-FFF2-40B4-BE49-F238E27FC236}">
                <a16:creationId xmlns:a16="http://schemas.microsoft.com/office/drawing/2014/main" id="{54212D5E-2E53-4CD5-8F02-5F6006D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Integrantes: [nomes da equipe]</a:t>
            </a:r>
          </a:p>
        </p:txBody>
      </p:sp>
      <p:sp>
        <p:nvSpPr>
          <p:cNvPr id="10" name="Orientador(a): [nome]">
            <a:extLst xmlns:a="http://schemas.openxmlformats.org/drawingml/2006/main">
              <a:ext uri="{FF2B5EF4-FFF2-40B4-BE49-F238E27FC236}">
                <a16:creationId xmlns:a16="http://schemas.microsoft.com/office/drawing/2014/main" id="{EFA08399-5B03-4D69-9EEA-53A81906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Orientador(a): [nome]</a:t>
            </a:r>
          </a:p>
        </p:txBody>
      </p:sp>
      <p:sp>
        <p:nvSpPr>
          <p:cNvPr id="11" name="Equipe: [LTD.2026.2-XXX]">
            <a:extLst xmlns:a="http://schemas.openxmlformats.org/drawingml/2006/main">
              <a:ext uri="{FF2B5EF4-FFF2-40B4-BE49-F238E27FC236}">
                <a16:creationId xmlns:a16="http://schemas.microsoft.com/office/drawing/2014/main" id="{DD2621E4-BA18-4105-AF19-815C8DB8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95875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Equipe: [LTD.2026.2-XXX]</a:t>
            </a:r>
          </a:p>
        </p:txBody>
      </p:sp>
      <p:sp>
        <p:nvSpPr>
          <p:cNvPr id="12" name="LTD">
            <a:extLst xmlns:a="http://schemas.openxmlformats.org/drawingml/2006/main">
              <a:ext uri="{FF2B5EF4-FFF2-40B4-BE49-F238E27FC236}">
                <a16:creationId xmlns:a16="http://schemas.microsoft.com/office/drawing/2014/main" id="{0C6AC2BB-1AAB-4E8A-94D9-268F60BD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LTD</a:t>
            </a:r>
          </a:p>
        </p:txBody>
      </p:sp>
      <p:sp>
        <p:nvSpPr>
          <p:cNvPr id="13" name="Laboratório de Transformação Digital&#10;[Inserir logo oficial do LTD]">
            <a:extLst xmlns:a="http://schemas.openxmlformats.org/drawingml/2006/main">
              <a:ext uri="{FF2B5EF4-FFF2-40B4-BE49-F238E27FC236}">
                <a16:creationId xmlns:a16="http://schemas.microsoft.com/office/drawing/2014/main" id="{ECD87B7F-A461-48CC-96FD-449AB7B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95975"/>
            <a:ext cx="365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Laboratório de Transformação Digital</a:t>
            </a:r>
          </a:p>
          <a:p xmlns:a="http://schemas.openxmlformats.org/drawingml/2006/main">
            <a:pPr algn="l">
              <a:defRPr sz="142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[Inserir logo oficial do LTD]</a:t>
            </a:r>
          </a:p>
        </p:txBody>
      </p:sp>
    </p:spTree>
    <p:extLst>
      <p:ext uri="{BB962C8B-B14F-4D97-AF65-F5344CB8AC3E}">
        <p14:creationId xmlns:p14="http://schemas.microsoft.com/office/powerpoint/2010/main" val="2091225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a: a dor do cliente">
            <a:extLst xmlns:a="http://schemas.openxmlformats.org/drawingml/2006/main">
              <a:ext uri="{FF2B5EF4-FFF2-40B4-BE49-F238E27FC236}">
                <a16:creationId xmlns:a16="http://schemas.microsoft.com/office/drawing/2014/main" id="{92000800-D5AD-4746-933B-0CBB444D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Problema: a dor do cliente</a:t>
            </a:r>
          </a:p>
        </p:txBody>
      </p:sp>
      <p:sp>
        <p:nvSpPr>
          <p:cNvPr id="2" name="Dificuldade para começar e manter uma rotina organizada.">
            <a:extLst xmlns:a="http://schemas.openxmlformats.org/drawingml/2006/main">
              <a:ext uri="{FF2B5EF4-FFF2-40B4-BE49-F238E27FC236}">
                <a16:creationId xmlns:a16="http://schemas.microsoft.com/office/drawing/2014/main" id="{5737F4B9-1F61-4520-B31D-7E03B309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Dificuldade para começar e manter uma rotina organizada.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608E8-01F3-4014-BB17-41E4624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8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B9625-93DA-4D94-BD47-1793D8B1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5" name="TrainForge / SeNAS 2026.2">
            <a:extLst xmlns:a="http://schemas.openxmlformats.org/drawingml/2006/main">
              <a:ext uri="{FF2B5EF4-FFF2-40B4-BE49-F238E27FC236}">
                <a16:creationId xmlns:a16="http://schemas.microsoft.com/office/drawing/2014/main" id="{76739FF5-50F0-4877-9E30-64EBA18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TrainForge / SeNAS 2026.2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BA83A4E6-7C21-4C13-825D-EF8C893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Por onde começar?&#10;Como acompanhar&#10;a evolução?">
            <a:extLst xmlns:a="http://schemas.openxmlformats.org/drawingml/2006/main">
              <a:ext uri="{FF2B5EF4-FFF2-40B4-BE49-F238E27FC236}">
                <a16:creationId xmlns:a16="http://schemas.microsoft.com/office/drawing/2014/main" id="{C00C41A8-F399-4249-88C4-16BDDBA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572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Por onde começar?</a:t>
            </a:r>
          </a:p>
          <a:p xmlns:a="http://schemas.openxmlformats.org/drawingml/2006/main">
            <a:pPr algn="l">
              <a:defRPr sz="36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Como acompanhar</a:t>
            </a:r>
          </a:p>
          <a:p xmlns:a="http://schemas.openxmlformats.org/drawingml/2006/main">
            <a:pPr algn="l">
              <a:defRPr sz="36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a evolução?</a:t>
            </a:r>
          </a:p>
        </p:txBody>
      </p:sp>
      <p:sp>
        <p:nvSpPr>
          <p:cNvPr id="8" name="Público-alvo: iniciantes e praticantes&#10;que precisam de orientação ou a">
            <a:extLst xmlns:a="http://schemas.openxmlformats.org/drawingml/2006/main">
              <a:ext uri="{FF2B5EF4-FFF2-40B4-BE49-F238E27FC236}">
                <a16:creationId xmlns:a16="http://schemas.microsoft.com/office/drawing/2014/main" id="{0798B61D-E496-4282-8972-F9FCC7F1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Público-alvo: iniciantes e praticantes</a:t>
            </a:r>
          </a:p>
          <a:p xmlns:a="http://schemas.openxmlformats.org/drawingml/2006/main">
            <a:pPr algn="l">
              <a:defRPr sz="18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que precisam de orientação ou autonomia.</a:t>
            </a:r>
          </a:p>
        </p:txBody>
      </p:sp>
      <p:sp>
        <p:nvSpPr>
          <p:cNvPr id="9" name="Informação dispersa">
            <a:extLst xmlns:a="http://schemas.openxmlformats.org/drawingml/2006/main">
              <a:ext uri="{FF2B5EF4-FFF2-40B4-BE49-F238E27FC236}">
                <a16:creationId xmlns:a16="http://schemas.microsoft.com/office/drawing/2014/main" id="{DA8D66C2-BC7A-49B2-BA16-2891D75C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574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Informação dispersa</a:t>
            </a:r>
          </a:p>
        </p:txBody>
      </p:sp>
      <p:sp>
        <p:nvSpPr>
          <p:cNvPr id="10" name="Treino, alimentação e registros&#10;ficam em ferramentas separadas.">
            <a:extLst xmlns:a="http://schemas.openxmlformats.org/drawingml/2006/main">
              <a:ext uri="{FF2B5EF4-FFF2-40B4-BE49-F238E27FC236}">
                <a16:creationId xmlns:a16="http://schemas.microsoft.com/office/drawing/2014/main" id="{8F18B029-D14B-45D6-B2A2-89D017D6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33675"/>
            <a:ext cx="552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Treino, alimentação e registros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ficam em ferramentas separadas.</a:t>
            </a:r>
          </a:p>
        </p:txBody>
      </p:sp>
      <p:sp>
        <p:nvSpPr>
          <p:cNvPr id="11" name="Planos fora do contexto">
            <a:extLst xmlns:a="http://schemas.openxmlformats.org/drawingml/2006/main">
              <a:ext uri="{FF2B5EF4-FFF2-40B4-BE49-F238E27FC236}">
                <a16:creationId xmlns:a16="http://schemas.microsoft.com/office/drawing/2014/main" id="{1D1568B9-2201-48A4-9129-457D1221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Planos fora do contexto</a:t>
            </a:r>
          </a:p>
        </p:txBody>
      </p:sp>
      <p:sp>
        <p:nvSpPr>
          <p:cNvPr id="12" name="Equipamento, tempo e experiência&#10;nem sempre combinam com o plano.">
            <a:extLst xmlns:a="http://schemas.openxmlformats.org/drawingml/2006/main">
              <a:ext uri="{FF2B5EF4-FFF2-40B4-BE49-F238E27FC236}">
                <a16:creationId xmlns:a16="http://schemas.microsoft.com/office/drawing/2014/main" id="{5FA29437-53B4-4BFC-8FA6-08F6E9E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29075"/>
            <a:ext cx="552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Equipamento, tempo e experiência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nem sempre combinam com o plano.</a:t>
            </a:r>
          </a:p>
        </p:txBody>
      </p:sp>
      <p:sp>
        <p:nvSpPr>
          <p:cNvPr id="13" name="Progresso difícil de entender">
            <a:extLst xmlns:a="http://schemas.openxmlformats.org/drawingml/2006/main">
              <a:ext uri="{FF2B5EF4-FFF2-40B4-BE49-F238E27FC236}">
                <a16:creationId xmlns:a16="http://schemas.microsoft.com/office/drawing/2014/main" id="{4777CDBA-9BA2-447F-B0DE-6F0220BC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482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Progresso difícil de entender</a:t>
            </a:r>
          </a:p>
        </p:txBody>
      </p:sp>
      <p:sp>
        <p:nvSpPr>
          <p:cNvPr id="14" name="O esforço para registrar e interpretar&#10;os dados prejudica a continuida">
            <a:extLst xmlns:a="http://schemas.openxmlformats.org/drawingml/2006/main">
              <a:ext uri="{FF2B5EF4-FFF2-40B4-BE49-F238E27FC236}">
                <a16:creationId xmlns:a16="http://schemas.microsoft.com/office/drawing/2014/main" id="{F454CCEE-84CE-4706-B397-9A9C262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24475"/>
            <a:ext cx="552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O esforço para registrar e interpretar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os dados prejudica a continuidade.</a:t>
            </a:r>
          </a:p>
        </p:txBody>
      </p:sp>
    </p:spTree>
    <p:extLst>
      <p:ext uri="{BB962C8B-B14F-4D97-AF65-F5344CB8AC3E}">
        <p14:creationId xmlns:p14="http://schemas.microsoft.com/office/powerpoint/2010/main" val="1627596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scopo: o que será desenvolvido">
            <a:extLst xmlns:a="http://schemas.openxmlformats.org/drawingml/2006/main">
              <a:ext uri="{FF2B5EF4-FFF2-40B4-BE49-F238E27FC236}">
                <a16:creationId xmlns:a16="http://schemas.microsoft.com/office/drawing/2014/main" id="{15A6AB66-369B-4BC5-A427-A736A1C3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Escopo: o que será desenvolvido</a:t>
            </a:r>
          </a:p>
        </p:txBody>
      </p:sp>
      <p:sp>
        <p:nvSpPr>
          <p:cNvPr id="2" name="Uma experiência integrada para aprender, planejar, registrar e acompan">
            <a:extLst xmlns:a="http://schemas.openxmlformats.org/drawingml/2006/main">
              <a:ext uri="{FF2B5EF4-FFF2-40B4-BE49-F238E27FC236}">
                <a16:creationId xmlns:a16="http://schemas.microsoft.com/office/drawing/2014/main" id="{6DF4CBC7-7F8A-47E8-AE24-223700B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Uma experiência integrada para aprender, planejar, registrar e acompanhar.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F74D5-6718-4C79-A85C-A872CE36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8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53AE-6D25-424A-B96A-05A62130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5" name="TrainForge / SeNAS 2026.2">
            <a:extLst xmlns:a="http://schemas.openxmlformats.org/drawingml/2006/main">
              <a:ext uri="{FF2B5EF4-FFF2-40B4-BE49-F238E27FC236}">
                <a16:creationId xmlns:a16="http://schemas.microsoft.com/office/drawing/2014/main" id="{A0DECC5D-4AF0-42E0-9F75-2200BA16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TrainForge / SeNAS 2026.2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0A347557-6B12-4EEE-9F0E-2F50EF31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reino e movimento">
            <a:extLst xmlns:a="http://schemas.openxmlformats.org/drawingml/2006/main">
              <a:ext uri="{FF2B5EF4-FFF2-40B4-BE49-F238E27FC236}">
                <a16:creationId xmlns:a16="http://schemas.microsoft.com/office/drawing/2014/main" id="{301FA753-AE6A-4FE2-A83E-73D4F0CB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Treino e movimento</a:t>
            </a:r>
          </a:p>
        </p:txBody>
      </p:sp>
      <p:sp>
        <p:nvSpPr>
          <p:cNvPr id="8" name="Programas humanos, instruções visuais&#10;e planos compatíveis com a rotin">
            <a:extLst xmlns:a="http://schemas.openxmlformats.org/drawingml/2006/main">
              <a:ext uri="{FF2B5EF4-FFF2-40B4-BE49-F238E27FC236}">
                <a16:creationId xmlns:a16="http://schemas.microsoft.com/office/drawing/2014/main" id="{3B3ADE2F-1B5A-46DC-856B-160BE4A1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Programas humanos, instruções visuais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e planos compatíveis com a rotina.</a:t>
            </a:r>
          </a:p>
        </p:txBody>
      </p:sp>
      <p:sp>
        <p:nvSpPr>
          <p:cNvPr id="9" name="Alimentação">
            <a:extLst xmlns:a="http://schemas.openxmlformats.org/drawingml/2006/main">
              <a:ext uri="{FF2B5EF4-FFF2-40B4-BE49-F238E27FC236}">
                <a16:creationId xmlns:a16="http://schemas.microsoft.com/office/drawing/2014/main" id="{FDD574FA-430C-4AF6-9FCA-BF02625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7647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Alimentação</a:t>
            </a:r>
          </a:p>
        </p:txBody>
      </p:sp>
      <p:sp>
        <p:nvSpPr>
          <p:cNvPr id="10" name="Organização de refeições, quantidades&#10;e aprendizagem de porções e rótu">
            <a:extLst xmlns:a="http://schemas.openxmlformats.org/drawingml/2006/main">
              <a:ext uri="{FF2B5EF4-FFF2-40B4-BE49-F238E27FC236}">
                <a16:creationId xmlns:a16="http://schemas.microsoft.com/office/drawing/2014/main" id="{5D0D63CD-B433-4631-93BB-8EAFDA4C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52725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Organização de refeições, quantidades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e aprendizagem de porções e rótulos.</a:t>
            </a:r>
          </a:p>
        </p:txBody>
      </p:sp>
      <p:sp>
        <p:nvSpPr>
          <p:cNvPr id="11" name="Registro e progresso">
            <a:extLst xmlns:a="http://schemas.openxmlformats.org/drawingml/2006/main">
              <a:ext uri="{FF2B5EF4-FFF2-40B4-BE49-F238E27FC236}">
                <a16:creationId xmlns:a16="http://schemas.microsoft.com/office/drawing/2014/main" id="{10CCA1A1-38A0-4C0D-9901-58AF538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Registro e progresso</a:t>
            </a:r>
          </a:p>
        </p:txBody>
      </p:sp>
      <p:sp>
        <p:nvSpPr>
          <p:cNvPr id="12" name="Entradas manuais, histórico e tendências&#10;ligadas aos objetivos pessoai">
            <a:extLst xmlns:a="http://schemas.openxmlformats.org/drawingml/2006/main">
              <a:ext uri="{FF2B5EF4-FFF2-40B4-BE49-F238E27FC236}">
                <a16:creationId xmlns:a16="http://schemas.microsoft.com/office/drawing/2014/main" id="{0FCDA514-817B-4B07-AED9-BF06AB05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Entradas manuais, histórico e tendências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ligadas aos objetivos pessoais.</a:t>
            </a:r>
          </a:p>
        </p:txBody>
      </p:sp>
      <p:sp>
        <p:nvSpPr>
          <p:cNvPr id="13" name="Captura assistida">
            <a:extLst xmlns:a="http://schemas.openxmlformats.org/drawingml/2006/main">
              <a:ext uri="{FF2B5EF4-FFF2-40B4-BE49-F238E27FC236}">
                <a16:creationId xmlns:a16="http://schemas.microsoft.com/office/drawing/2014/main" id="{1D16F4C3-7D3F-489D-A7F1-7FAC569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Captura assistida</a:t>
            </a:r>
          </a:p>
        </p:txBody>
      </p:sp>
      <p:sp>
        <p:nvSpPr>
          <p:cNvPr id="14" name="Imagem e dispositivos previstos,&#10;condicionados à viabilidade.">
            <a:extLst xmlns:a="http://schemas.openxmlformats.org/drawingml/2006/main">
              <a:ext uri="{FF2B5EF4-FFF2-40B4-BE49-F238E27FC236}">
                <a16:creationId xmlns:a16="http://schemas.microsoft.com/office/drawing/2014/main" id="{DE844465-75BD-4706-A9EC-959132E0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Imagem e dispositivos previstos,</a:t>
            </a:r>
          </a:p>
          <a:p xmlns:a="http://schemas.openxmlformats.org/drawingml/2006/main">
            <a:pPr algn="l">
              <a:defRPr sz="19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condicionados à viabilidade.</a:t>
            </a:r>
          </a:p>
        </p:txBody>
      </p:sp>
      <p:sp>
        <p:nvSpPr>
          <p:cNvPr id="15" name="Android primeiro. Escopo final do MVP e catálogo de conteúdo ainda em ">
            <a:extLst xmlns:a="http://schemas.openxmlformats.org/drawingml/2006/main">
              <a:ext uri="{FF2B5EF4-FFF2-40B4-BE49-F238E27FC236}">
                <a16:creationId xmlns:a16="http://schemas.microsoft.com/office/drawing/2014/main" id="{CCF6DD28-D425-4DFF-872A-D3C351FB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Android primeiro. Escopo final do MVP e catálogo de conteúdo ainda em definição.</a:t>
            </a:r>
          </a:p>
        </p:txBody>
      </p:sp>
    </p:spTree>
    <p:extLst>
      <p:ext uri="{BB962C8B-B14F-4D97-AF65-F5344CB8AC3E}">
        <p14:creationId xmlns:p14="http://schemas.microsoft.com/office/powerpoint/2010/main" val="1490331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quisitos funcionais">
            <a:extLst xmlns:a="http://schemas.openxmlformats.org/drawingml/2006/main">
              <a:ext uri="{FF2B5EF4-FFF2-40B4-BE49-F238E27FC236}">
                <a16:creationId xmlns:a16="http://schemas.microsoft.com/office/drawing/2014/main" id="{274F4542-933A-489B-8855-63451EF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Requisitos funcionais</a:t>
            </a:r>
          </a:p>
        </p:txBody>
      </p:sp>
      <p:sp>
        <p:nvSpPr>
          <p:cNvPr id="2" name="Síntese dos requisitos R01–R18 da documentação do projeto.">
            <a:extLst xmlns:a="http://schemas.openxmlformats.org/drawingml/2006/main">
              <a:ext uri="{FF2B5EF4-FFF2-40B4-BE49-F238E27FC236}">
                <a16:creationId xmlns:a16="http://schemas.microsoft.com/office/drawing/2014/main" id="{DFB05098-C4D6-408F-8D3D-33D3FE0A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Síntese dos requisitos R01–R18 da documentação do projeto.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93622-FC3C-4174-BF70-5C5D6B79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8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1B7AE-35D2-4BDC-8944-78767BEC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5" name="TrainForge / SeNAS 2026.2">
            <a:extLst xmlns:a="http://schemas.openxmlformats.org/drawingml/2006/main">
              <a:ext uri="{FF2B5EF4-FFF2-40B4-BE49-F238E27FC236}">
                <a16:creationId xmlns:a16="http://schemas.microsoft.com/office/drawing/2014/main" id="{5233B45A-8572-42A3-B05D-590840AA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TrainForge / SeNAS 2026.2</a:t>
            </a:r>
          </a:p>
        </p:txBody>
      </p:sp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410918FB-4205-4CF6-8297-FE16EB47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01 / R04 / R16">
            <a:extLst xmlns:a="http://schemas.openxmlformats.org/drawingml/2006/main">
              <a:ext uri="{FF2B5EF4-FFF2-40B4-BE49-F238E27FC236}">
                <a16:creationId xmlns:a16="http://schemas.microsoft.com/office/drawing/2014/main" id="{7F578CFF-52DE-47A5-9B4E-76D703BF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R01 / R04 / R16</a:t>
            </a:r>
          </a:p>
        </p:txBody>
      </p:sp>
      <p:sp>
        <p:nvSpPr>
          <p:cNvPr id="8" name="Configurar objetivos e contexto">
            <a:extLst xmlns:a="http://schemas.openxmlformats.org/drawingml/2006/main">
              <a:ext uri="{FF2B5EF4-FFF2-40B4-BE49-F238E27FC236}">
                <a16:creationId xmlns:a16="http://schemas.microsoft.com/office/drawing/2014/main" id="{EB353CF6-946C-4979-9D23-C2EA2505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0502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Configurar objetivos e contexto</a:t>
            </a:r>
          </a:p>
        </p:txBody>
      </p:sp>
      <p:sp>
        <p:nvSpPr>
          <p:cNvPr id="9" name="Rotina, experiência, local, equipamento e disponibilidade.">
            <a:extLst xmlns:a="http://schemas.openxmlformats.org/drawingml/2006/main">
              <a:ext uri="{FF2B5EF4-FFF2-40B4-BE49-F238E27FC236}">
                <a16:creationId xmlns:a16="http://schemas.microsoft.com/office/drawing/2014/main" id="{5DF94544-6ECF-4054-998E-F4775236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7650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Rotina, experiência, local, equipamento e disponibilidade.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9B8AD-C777-481D-A30A-0ED0096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11" name="R02 / R03 / R05">
            <a:extLst xmlns:a="http://schemas.openxmlformats.org/drawingml/2006/main">
              <a:ext uri="{FF2B5EF4-FFF2-40B4-BE49-F238E27FC236}">
                <a16:creationId xmlns:a16="http://schemas.microsoft.com/office/drawing/2014/main" id="{811E058D-D799-44DC-83AA-2E19362B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R02 / R03 / R05</a:t>
            </a:r>
          </a:p>
        </p:txBody>
      </p:sp>
      <p:sp>
        <p:nvSpPr>
          <p:cNvPr id="12" name="Consultar programas e instruções">
            <a:extLst xmlns:a="http://schemas.openxmlformats.org/drawingml/2006/main">
              <a:ext uri="{FF2B5EF4-FFF2-40B4-BE49-F238E27FC236}">
                <a16:creationId xmlns:a16="http://schemas.microsoft.com/office/drawing/2014/main" id="{E95DDCA4-31C7-4D73-BDEC-5DAAD42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57500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Consultar programas e instruções</a:t>
            </a:r>
          </a:p>
        </p:txBody>
      </p:sp>
      <p:sp>
        <p:nvSpPr>
          <p:cNvPr id="13" name="Conteúdo humano por modalidade e orientação de execução.">
            <a:extLst xmlns:a="http://schemas.openxmlformats.org/drawingml/2006/main">
              <a:ext uri="{FF2B5EF4-FFF2-40B4-BE49-F238E27FC236}">
                <a16:creationId xmlns:a16="http://schemas.microsoft.com/office/drawing/2014/main" id="{52793D01-67A9-458C-8208-8FB056F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28975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Conteúdo humano por modalidade e orientação de execução.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90A38-DF28-40D8-8EAA-AB71B29A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15" name="R07 / R08 / R09">
            <a:extLst xmlns:a="http://schemas.openxmlformats.org/drawingml/2006/main">
              <a:ext uri="{FF2B5EF4-FFF2-40B4-BE49-F238E27FC236}">
                <a16:creationId xmlns:a16="http://schemas.microsoft.com/office/drawing/2014/main" id="{1F3229CB-25BF-47FF-B9AE-23BCD60E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R07 / R08 / R09</a:t>
            </a:r>
          </a:p>
        </p:txBody>
      </p:sp>
      <p:sp>
        <p:nvSpPr>
          <p:cNvPr id="16" name="Organizar alimentação e atividade">
            <a:extLst xmlns:a="http://schemas.openxmlformats.org/drawingml/2006/main">
              <a:ext uri="{FF2B5EF4-FFF2-40B4-BE49-F238E27FC236}">
                <a16:creationId xmlns:a16="http://schemas.microsoft.com/office/drawing/2014/main" id="{27683F0F-BF45-4BE9-9A4A-F05C218E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0997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Organizar alimentação e atividade</a:t>
            </a:r>
          </a:p>
        </p:txBody>
      </p:sp>
      <p:sp>
        <p:nvSpPr>
          <p:cNvPr id="17" name="Refeições, quantidades, rótulos e objetivos compartilhados.">
            <a:extLst xmlns:a="http://schemas.openxmlformats.org/drawingml/2006/main">
              <a:ext uri="{FF2B5EF4-FFF2-40B4-BE49-F238E27FC236}">
                <a16:creationId xmlns:a16="http://schemas.microsoft.com/office/drawing/2014/main" id="{8D02D305-147D-4F57-B8B0-B650ADD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9814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Refeições, quantidades, rótulos e objetivos compartilhados.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DDC06-64D6-40BF-84DB-1A10FBCD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19" name="R10 / R11 / R12 / R13">
            <a:extLst xmlns:a="http://schemas.openxmlformats.org/drawingml/2006/main">
              <a:ext uri="{FF2B5EF4-FFF2-40B4-BE49-F238E27FC236}">
                <a16:creationId xmlns:a16="http://schemas.microsoft.com/office/drawing/2014/main" id="{382F3A2E-BC53-47B5-BCE5-532FAA93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R10 / R11 / R12 / R13</a:t>
            </a:r>
          </a:p>
        </p:txBody>
      </p:sp>
      <p:sp>
        <p:nvSpPr>
          <p:cNvPr id="20" name="Registrar e corrigir o realizado">
            <a:extLst xmlns:a="http://schemas.openxmlformats.org/drawingml/2006/main">
              <a:ext uri="{FF2B5EF4-FFF2-40B4-BE49-F238E27FC236}">
                <a16:creationId xmlns:a16="http://schemas.microsoft.com/office/drawing/2014/main" id="{DCE795C4-6204-4C00-A090-1EB8520B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62450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Registrar e corrigir o realizado</a:t>
            </a:r>
          </a:p>
        </p:txBody>
      </p:sp>
      <p:sp>
        <p:nvSpPr>
          <p:cNvPr id="21" name="Entrada manual e captura assistida conforme viabilidade.">
            <a:extLst xmlns:a="http://schemas.openxmlformats.org/drawingml/2006/main">
              <a:ext uri="{FF2B5EF4-FFF2-40B4-BE49-F238E27FC236}">
                <a16:creationId xmlns:a16="http://schemas.microsoft.com/office/drawing/2014/main" id="{36B1C325-B3DD-4FA9-BF43-1A9AEE4B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733925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Entrada manual e captura assistida conforme viabilidade.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D92E9-BD26-4297-8921-C3EABAC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23" name="R14 / R15 / R17">
            <a:extLst xmlns:a="http://schemas.openxmlformats.org/drawingml/2006/main">
              <a:ext uri="{FF2B5EF4-FFF2-40B4-BE49-F238E27FC236}">
                <a16:creationId xmlns:a16="http://schemas.microsoft.com/office/drawing/2014/main" id="{63266492-DAB2-49FC-8EF6-857A40F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R14 / R15 / R17</a:t>
            </a:r>
          </a:p>
        </p:txBody>
      </p:sp>
      <p:sp>
        <p:nvSpPr>
          <p:cNvPr id="24" name="Acompanhar e compreender o progresso">
            <a:extLst xmlns:a="http://schemas.openxmlformats.org/drawingml/2006/main">
              <a:ext uri="{FF2B5EF4-FFF2-40B4-BE49-F238E27FC236}">
                <a16:creationId xmlns:a16="http://schemas.microsoft.com/office/drawing/2014/main" id="{37BB5DC0-935A-4F9C-860B-761FE9B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1492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Acompanhar e compreender o progresso</a:t>
            </a:r>
          </a:p>
        </p:txBody>
      </p:sp>
      <p:sp>
        <p:nvSpPr>
          <p:cNvPr id="25" name="Histórico, tendências e explicações acessíveis.">
            <a:extLst xmlns:a="http://schemas.openxmlformats.org/drawingml/2006/main">
              <a:ext uri="{FF2B5EF4-FFF2-40B4-BE49-F238E27FC236}">
                <a16:creationId xmlns:a16="http://schemas.microsoft.com/office/drawing/2014/main" id="{ED06E716-2198-49E3-A575-E53565B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8640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Histórico, tendências e explicações acessíveis.</a:t>
            </a:r>
          </a:p>
        </p:txBody>
      </p:sp>
    </p:spTree>
    <p:extLst>
      <p:ext uri="{BB962C8B-B14F-4D97-AF65-F5344CB8AC3E}">
        <p14:creationId xmlns:p14="http://schemas.microsoft.com/office/powerpoint/2010/main" val="1837010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rquitetura do sistema">
            <a:extLst xmlns:a="http://schemas.openxmlformats.org/drawingml/2006/main">
              <a:ext uri="{FF2B5EF4-FFF2-40B4-BE49-F238E27FC236}">
                <a16:creationId xmlns:a16="http://schemas.microsoft.com/office/drawing/2014/main" id="{BF193523-2282-4E8C-9F74-097322CF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Arquitetura do sistema</a:t>
            </a:r>
          </a:p>
        </p:txBody>
      </p:sp>
      <p:sp>
        <p:nvSpPr>
          <p:cNvPr id="2" name="Base existente: Flutter, API Fastify e banco PostgreSQL.">
            <a:extLst xmlns:a="http://schemas.openxmlformats.org/drawingml/2006/main">
              <a:ext uri="{FF2B5EF4-FFF2-40B4-BE49-F238E27FC236}">
                <a16:creationId xmlns:a16="http://schemas.microsoft.com/office/drawing/2014/main" id="{CDD0F370-115A-4380-B10A-47F9E1B8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Base existente: Flutter, API Fastify e banco PostgreSQL.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0A4F8-B599-4105-8149-8008D118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8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5D7CD-428B-4BB0-BEAA-B83BD00F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5" name="TrainForge / SeNAS 2026.2">
            <a:extLst xmlns:a="http://schemas.openxmlformats.org/drawingml/2006/main">
              <a:ext uri="{FF2B5EF4-FFF2-40B4-BE49-F238E27FC236}">
                <a16:creationId xmlns:a16="http://schemas.microsoft.com/office/drawing/2014/main" id="{147377F1-0D01-4FA7-A642-AF302CE0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TrainForge / SeNAS 2026.2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5A3AD1DF-572D-4598-B1A6-9D1DA6B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APLICATIVO">
            <a:extLst xmlns:a="http://schemas.openxmlformats.org/drawingml/2006/main">
              <a:ext uri="{FF2B5EF4-FFF2-40B4-BE49-F238E27FC236}">
                <a16:creationId xmlns:a16="http://schemas.microsoft.com/office/drawing/2014/main" id="{376A2C03-347B-459A-90F4-C21D6BA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267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APLICATIVO</a:t>
            </a:r>
          </a:p>
        </p:txBody>
      </p:sp>
      <p:sp>
        <p:nvSpPr>
          <p:cNvPr id="8" name="SERVIDOR">
            <a:extLst xmlns:a="http://schemas.openxmlformats.org/drawingml/2006/main">
              <a:ext uri="{FF2B5EF4-FFF2-40B4-BE49-F238E27FC236}">
                <a16:creationId xmlns:a16="http://schemas.microsoft.com/office/drawing/2014/main" id="{49D2B707-E637-4200-B5E9-0D62B8B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3267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SERVIDOR</a:t>
            </a:r>
          </a:p>
        </p:txBody>
      </p:sp>
      <p:sp>
        <p:nvSpPr>
          <p:cNvPr id="9" name="DADOS">
            <a:extLst xmlns:a="http://schemas.openxmlformats.org/drawingml/2006/main">
              <a:ext uri="{FF2B5EF4-FFF2-40B4-BE49-F238E27FC236}">
                <a16:creationId xmlns:a16="http://schemas.microsoft.com/office/drawing/2014/main" id="{DFC0DE0B-DAD8-474D-B2F6-692D5D8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05025"/>
            <a:ext cx="3267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EAE7-30F2-42D3-A814-145AF0B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575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11" name="Flutter / Dart">
            <a:extLst xmlns:a="http://schemas.openxmlformats.org/drawingml/2006/main">
              <a:ext uri="{FF2B5EF4-FFF2-40B4-BE49-F238E27FC236}">
                <a16:creationId xmlns:a16="http://schemas.microsoft.com/office/drawing/2014/main" id="{C1F25D9F-AA7D-48D8-8CCD-45CC221D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Flutter / Dart</a:t>
            </a:r>
          </a:p>
        </p:txBody>
      </p:sp>
      <p:sp>
        <p:nvSpPr>
          <p:cNvPr id="12" name="Telas e widgets&#10;Repositórios&#10;Dio + armazenamento seguro">
            <a:extLst xmlns:a="http://schemas.openxmlformats.org/drawingml/2006/main">
              <a:ext uri="{FF2B5EF4-FFF2-40B4-BE49-F238E27FC236}">
                <a16:creationId xmlns:a16="http://schemas.microsoft.com/office/drawing/2014/main" id="{2D81B117-BE5B-4FA9-8D27-D2FF2011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Telas e widgets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Repositórios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Dio + armazenamento seguro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4E975-6B19-4A70-A169-5C15556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71750"/>
            <a:ext cx="32575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14" name="Fastify / TypeScript">
            <a:extLst xmlns:a="http://schemas.openxmlformats.org/drawingml/2006/main">
              <a:ext uri="{FF2B5EF4-FFF2-40B4-BE49-F238E27FC236}">
                <a16:creationId xmlns:a16="http://schemas.microsoft.com/office/drawing/2014/main" id="{C763DF33-7FF4-4718-8A13-E9ECD21A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Fastify / TypeScript</a:t>
            </a:r>
          </a:p>
        </p:txBody>
      </p:sp>
      <p:sp>
        <p:nvSpPr>
          <p:cNvPr id="15" name="Rotas autenticadas&#10;Validação&#10;Casos de uso">
            <a:extLst xmlns:a="http://schemas.openxmlformats.org/drawingml/2006/main">
              <a:ext uri="{FF2B5EF4-FFF2-40B4-BE49-F238E27FC236}">
                <a16:creationId xmlns:a16="http://schemas.microsoft.com/office/drawing/2014/main" id="{7ABF8D8B-B8F8-477F-81B1-E03617F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Rotas autenticadas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Validação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Casos de uso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92A11-B4BB-49A9-BE6E-A03F130C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2956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17" name="Prisma / PostgreSQL">
            <a:extLst xmlns:a="http://schemas.openxmlformats.org/drawingml/2006/main">
              <a:ext uri="{FF2B5EF4-FFF2-40B4-BE49-F238E27FC236}">
                <a16:creationId xmlns:a16="http://schemas.microsoft.com/office/drawing/2014/main" id="{10A206F3-4939-496F-B5D1-2303094A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Prisma / PostgreSQL</a:t>
            </a:r>
          </a:p>
        </p:txBody>
      </p:sp>
      <p:sp>
        <p:nvSpPr>
          <p:cNvPr id="18" name="Usuários&#10;Planos e dias de treino&#10;Exercícios e sessões">
            <a:extLst xmlns:a="http://schemas.openxmlformats.org/drawingml/2006/main">
              <a:ext uri="{FF2B5EF4-FFF2-40B4-BE49-F238E27FC236}">
                <a16:creationId xmlns:a16="http://schemas.microsoft.com/office/drawing/2014/main" id="{D067CACC-5E5A-445B-9667-945000F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Usuários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Planos e dias de treino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Exercícios e sessões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43350" y="353853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71F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05725" y="353853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71F"/>
            </a:solidFill>
            <a:tailEnd type="triangle" w="sm" len="sm"/>
          </a:ln>
        </p:spPr>
      </p:cxnSp>
      <p:sp>
        <p:nvSpPr>
          <p:cNvPr id="21" name="HTTP + JSON / Bearer">
            <a:extLst xmlns:a="http://schemas.openxmlformats.org/drawingml/2006/main">
              <a:ext uri="{FF2B5EF4-FFF2-40B4-BE49-F238E27FC236}">
                <a16:creationId xmlns:a16="http://schemas.microsoft.com/office/drawing/2014/main" id="{41343999-61C0-4073-89F0-B9535000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863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HTTP + JSON / Bearer</a:t>
            </a:r>
          </a:p>
        </p:txBody>
      </p:sp>
      <p:sp>
        <p:nvSpPr>
          <p:cNvPr id="22" name="Persistência relacional">
            <a:extLst xmlns:a="http://schemas.openxmlformats.org/drawingml/2006/main">
              <a:ext uri="{FF2B5EF4-FFF2-40B4-BE49-F238E27FC236}">
                <a16:creationId xmlns:a16="http://schemas.microsoft.com/office/drawing/2014/main" id="{FD0381BC-FB43-46E4-A7FE-4348F964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86300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Persistência relacional</a:t>
            </a:r>
          </a:p>
        </p:txBody>
      </p:sp>
      <p:sp>
        <p:nvSpPr>
          <p:cNvPr id="23" name="Evolução proposta">
            <a:extLst xmlns:a="http://schemas.openxmlformats.org/drawingml/2006/main">
              <a:ext uri="{FF2B5EF4-FFF2-40B4-BE49-F238E27FC236}">
                <a16:creationId xmlns:a16="http://schemas.microsoft.com/office/drawing/2014/main" id="{CC806642-E205-462F-B3D5-B1263788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47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9471F"/>
                </a:solidFill>
                <a:latin typeface="Arial"/>
                <a:ea typeface="Arial"/>
                <a:cs typeface="Arial"/>
              </a:rPr>
              <a:t>Evolução proposta</a:t>
            </a:r>
          </a:p>
        </p:txBody>
      </p:sp>
      <p:sp>
        <p:nvSpPr>
          <p:cNvPr id="24" name="Cache e sincronização, fontes de conteúdo e mídia privada.&#10;Contratos e">
            <a:extLst xmlns:a="http://schemas.openxmlformats.org/drawingml/2006/main">
              <a:ext uri="{FF2B5EF4-FFF2-40B4-BE49-F238E27FC236}">
                <a16:creationId xmlns:a16="http://schemas.microsoft.com/office/drawing/2014/main" id="{903B0D58-6807-4127-8EF1-E8A6FBF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00650"/>
            <a:ext cx="7858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Cache e sincronização, fontes de conteúdo e mídia privada.</a:t>
            </a:r>
          </a:p>
          <a:p xmlns:a="http://schemas.openxmlformats.org/drawingml/2006/main">
            <a:pPr algn="l">
              <a:defRPr sz="180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Contratos e integrações ainda precisam de validação.</a:t>
            </a:r>
          </a:p>
        </p:txBody>
      </p:sp>
    </p:spTree>
    <p:extLst>
      <p:ext uri="{BB962C8B-B14F-4D97-AF65-F5344CB8AC3E}">
        <p14:creationId xmlns:p14="http://schemas.microsoft.com/office/powerpoint/2010/main" val="1427616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ntidades principais">
            <a:extLst xmlns:a="http://schemas.openxmlformats.org/drawingml/2006/main">
              <a:ext uri="{FF2B5EF4-FFF2-40B4-BE49-F238E27FC236}">
                <a16:creationId xmlns:a16="http://schemas.microsoft.com/office/drawing/2014/main" id="{33EA0EBA-E077-42DA-BE2B-F4A4A726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Entidades principais</a:t>
            </a:r>
          </a:p>
        </p:txBody>
      </p:sp>
      <p:sp>
        <p:nvSpPr>
          <p:cNvPr id="2" name="Modelo atual de treino, confirmado no schema Prisma.">
            <a:extLst xmlns:a="http://schemas.openxmlformats.org/drawingml/2006/main">
              <a:ext uri="{FF2B5EF4-FFF2-40B4-BE49-F238E27FC236}">
                <a16:creationId xmlns:a16="http://schemas.microsoft.com/office/drawing/2014/main" id="{573216EF-A43B-4157-A26E-05BDA18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Modelo atual de treino, confirmado no schema Prisma.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B94A6-2338-4582-9A4C-A17FEC69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8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3C45-F040-4FAC-8D17-87BCE47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5" name="TrainForge / SeNAS 2026.2">
            <a:extLst xmlns:a="http://schemas.openxmlformats.org/drawingml/2006/main">
              <a:ext uri="{FF2B5EF4-FFF2-40B4-BE49-F238E27FC236}">
                <a16:creationId xmlns:a16="http://schemas.microsoft.com/office/drawing/2014/main" id="{7BD3C510-A4B2-4608-BE78-EF344202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TrainForge / SeNAS 2026.2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C0CFF444-0583-4BD9-A66B-4FB6FA8D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DA0E4-DCEC-472A-8E04-0F1E848F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171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8" name="Usuário">
            <a:extLst xmlns:a="http://schemas.openxmlformats.org/drawingml/2006/main">
              <a:ext uri="{FF2B5EF4-FFF2-40B4-BE49-F238E27FC236}">
                <a16:creationId xmlns:a16="http://schemas.microsoft.com/office/drawing/2014/main" id="{217E2BD0-1DE7-414D-9D33-96495C44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9" name="User&#10;id, nome, e-mail">
            <a:extLst xmlns:a="http://schemas.openxmlformats.org/drawingml/2006/main">
              <a:ext uri="{FF2B5EF4-FFF2-40B4-BE49-F238E27FC236}">
                <a16:creationId xmlns:a16="http://schemas.microsoft.com/office/drawing/2014/main" id="{03A38A83-5EE8-4045-934B-07690B1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User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id, nome, e-mail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F3C27-3C95-4929-A048-E7523928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24125"/>
            <a:ext cx="24193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11" name="Plano de treino">
            <a:extLst xmlns:a="http://schemas.openxmlformats.org/drawingml/2006/main">
              <a:ext uri="{FF2B5EF4-FFF2-40B4-BE49-F238E27FC236}">
                <a16:creationId xmlns:a16="http://schemas.microsoft.com/office/drawing/2014/main" id="{CF712699-9DD5-4175-A6EF-2070FE84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9557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Plano de treino</a:t>
            </a:r>
          </a:p>
        </p:txBody>
      </p:sp>
      <p:sp>
        <p:nvSpPr>
          <p:cNvPr id="12" name="WorkoutPlan&#10;nome, usuário, ativo">
            <a:extLst xmlns:a="http://schemas.openxmlformats.org/drawingml/2006/main">
              <a:ext uri="{FF2B5EF4-FFF2-40B4-BE49-F238E27FC236}">
                <a16:creationId xmlns:a16="http://schemas.microsoft.com/office/drawing/2014/main" id="{71CCCD4F-7E3D-462B-9B0C-10CB0999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WorkoutPlan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nome, usuário, ativo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5592A-2E0E-4FB1-B423-38768EC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24125"/>
            <a:ext cx="24193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14" name="Dia de treino">
            <a:extLst xmlns:a="http://schemas.openxmlformats.org/drawingml/2006/main">
              <a:ext uri="{FF2B5EF4-FFF2-40B4-BE49-F238E27FC236}">
                <a16:creationId xmlns:a16="http://schemas.microsoft.com/office/drawing/2014/main" id="{6A608DE2-896E-40BD-B109-1DE4968D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9557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Dia de treino</a:t>
            </a:r>
          </a:p>
        </p:txBody>
      </p:sp>
      <p:sp>
        <p:nvSpPr>
          <p:cNvPr id="15" name="WorkoutDay&#10;dia e descanso">
            <a:extLst xmlns:a="http://schemas.openxmlformats.org/drawingml/2006/main">
              <a:ext uri="{FF2B5EF4-FFF2-40B4-BE49-F238E27FC236}">
                <a16:creationId xmlns:a16="http://schemas.microsoft.com/office/drawing/2014/main" id="{A7F5A391-60BE-455F-AFCE-7B7BED23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1467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WorkoutDay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dia e descanso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3DC9F-3140-46C4-9767-CC7B9491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2419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17" name="Exercício">
            <a:extLst xmlns:a="http://schemas.openxmlformats.org/drawingml/2006/main">
              <a:ext uri="{FF2B5EF4-FFF2-40B4-BE49-F238E27FC236}">
                <a16:creationId xmlns:a16="http://schemas.microsoft.com/office/drawing/2014/main" id="{2085A1B6-1161-4998-A010-952048B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339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Exercício</a:t>
            </a:r>
          </a:p>
        </p:txBody>
      </p:sp>
      <p:sp>
        <p:nvSpPr>
          <p:cNvPr id="18" name="WorkoutExercise&#10;séries e repetições">
            <a:extLst xmlns:a="http://schemas.openxmlformats.org/drawingml/2006/main">
              <a:ext uri="{FF2B5EF4-FFF2-40B4-BE49-F238E27FC236}">
                <a16:creationId xmlns:a16="http://schemas.microsoft.com/office/drawing/2014/main" id="{DC9FF710-FB4E-4E4F-A023-2CFBF304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53025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WorkoutExercise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séries e repetições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E9858-7CC0-43F6-92F1-B4AC503F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24125"/>
            <a:ext cx="1943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4288">
            <a:solidFill>
              <a:srgbClr val="E3E3E8"/>
            </a:solidFill>
          </a:ln>
        </p:spPr>
      </p:sp>
      <p:sp>
        <p:nvSpPr>
          <p:cNvPr id="20" name="Sessão">
            <a:extLst xmlns:a="http://schemas.openxmlformats.org/drawingml/2006/main">
              <a:ext uri="{FF2B5EF4-FFF2-40B4-BE49-F238E27FC236}">
                <a16:creationId xmlns:a16="http://schemas.microsoft.com/office/drawing/2014/main" id="{AA013A98-3447-4CCE-AE3C-DBB49AC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955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Sessão</a:t>
            </a:r>
          </a:p>
        </p:txBody>
      </p:sp>
      <p:sp>
        <p:nvSpPr>
          <p:cNvPr id="21" name="WorkoutSession&#10;início, conclusão">
            <a:extLst xmlns:a="http://schemas.openxmlformats.org/drawingml/2006/main">
              <a:ext uri="{FF2B5EF4-FFF2-40B4-BE49-F238E27FC236}">
                <a16:creationId xmlns:a16="http://schemas.microsoft.com/office/drawing/2014/main" id="{220F48C6-B106-4989-987E-FDB8F06F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14675"/>
            <a:ext cx="160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WorkoutSession</a:t>
            </a:r>
          </a:p>
          <a:p xmlns:a="http://schemas.openxmlformats.org/drawingml/2006/main">
            <a:pPr algn="l">
              <a:defRPr sz="165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início, conclusão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7500" y="32146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71F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2146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71F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972550" y="32146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71F"/>
            </a:solidFill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762875" y="39052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71F"/>
            </a:solidFill>
            <a:tailEnd type="triangle" w="sm" len="sm"/>
          </a:ln>
        </p:spPr>
      </p:cxnSp>
      <p:sp>
        <p:nvSpPr>
          <p:cNvPr id="26" name="1:N">
            <a:extLst xmlns:a="http://schemas.openxmlformats.org/drawingml/2006/main">
              <a:ext uri="{FF2B5EF4-FFF2-40B4-BE49-F238E27FC236}">
                <a16:creationId xmlns:a16="http://schemas.microsoft.com/office/drawing/2014/main" id="{0E9F253B-1ACE-4A45-A7CA-E6613868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7" name="1:N">
            <a:extLst xmlns:a="http://schemas.openxmlformats.org/drawingml/2006/main">
              <a:ext uri="{FF2B5EF4-FFF2-40B4-BE49-F238E27FC236}">
                <a16:creationId xmlns:a16="http://schemas.microsoft.com/office/drawing/2014/main" id="{50CCB3C3-FBE5-4EF2-B803-110A61EE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8" name="1:N">
            <a:extLst xmlns:a="http://schemas.openxmlformats.org/drawingml/2006/main">
              <a:ext uri="{FF2B5EF4-FFF2-40B4-BE49-F238E27FC236}">
                <a16:creationId xmlns:a16="http://schemas.microsoft.com/office/drawing/2014/main" id="{9CF955D9-B1B4-45E2-8495-B03AAA4D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9" name="1:N">
            <a:extLst xmlns:a="http://schemas.openxmlformats.org/drawingml/2006/main">
              <a:ext uri="{FF2B5EF4-FFF2-40B4-BE49-F238E27FC236}">
                <a16:creationId xmlns:a16="http://schemas.microsoft.com/office/drawing/2014/main" id="{ABCE0A61-1736-4FFE-97BD-93FA10B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30" name="Evolução conceitual">
            <a:extLst xmlns:a="http://schemas.openxmlformats.org/drawingml/2006/main">
              <a:ext uri="{FF2B5EF4-FFF2-40B4-BE49-F238E27FC236}">
                <a16:creationId xmlns:a16="http://schemas.microsoft.com/office/drawing/2014/main" id="{7D21A047-F76F-4C04-AC48-DEDD1B2F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47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9471F"/>
                </a:solidFill>
                <a:latin typeface="Arial"/>
                <a:ea typeface="Arial"/>
                <a:cs typeface="Arial"/>
              </a:rPr>
              <a:t>Evolução conceitual</a:t>
            </a:r>
          </a:p>
        </p:txBody>
      </p:sp>
      <p:sp>
        <p:nvSpPr>
          <p:cNvPr id="31" name="Alimentos, refeições, fontes e registros&#10;por modalidade ainda não faze">
            <a:extLst xmlns:a="http://schemas.openxmlformats.org/drawingml/2006/main">
              <a:ext uri="{FF2B5EF4-FFF2-40B4-BE49-F238E27FC236}">
                <a16:creationId xmlns:a16="http://schemas.microsoft.com/office/drawing/2014/main" id="{DE6A229D-E00A-448C-BAA7-700128B9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525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Alimentos, refeições, fontes e registros</a:t>
            </a:r>
          </a:p>
          <a:p xmlns:a="http://schemas.openxmlformats.org/drawingml/2006/main">
            <a:pPr algn="l">
              <a:defRPr sz="1875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por modalidade ainda não fazem parte</a:t>
            </a:r>
          </a:p>
          <a:p xmlns:a="http://schemas.openxmlformats.org/drawingml/2006/main">
            <a:pPr algn="l">
              <a:defRPr sz="1875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deste modelo físico.</a:t>
            </a:r>
          </a:p>
        </p:txBody>
      </p:sp>
    </p:spTree>
    <p:extLst>
      <p:ext uri="{BB962C8B-B14F-4D97-AF65-F5344CB8AC3E}">
        <p14:creationId xmlns:p14="http://schemas.microsoft.com/office/powerpoint/2010/main" val="39131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etodologia de uso da IA">
            <a:extLst xmlns:a="http://schemas.openxmlformats.org/drawingml/2006/main">
              <a:ext uri="{FF2B5EF4-FFF2-40B4-BE49-F238E27FC236}">
                <a16:creationId xmlns:a16="http://schemas.microsoft.com/office/drawing/2014/main" id="{C59390B4-35C8-47EB-B0A1-888220B7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Metodologia de uso da IA</a:t>
            </a:r>
          </a:p>
        </p:txBody>
      </p:sp>
      <p:sp>
        <p:nvSpPr>
          <p:cNvPr id="2" name="Codex conversacional com ferramentas locais de desenvolvimento.">
            <a:extLst xmlns:a="http://schemas.openxmlformats.org/drawingml/2006/main">
              <a:ext uri="{FF2B5EF4-FFF2-40B4-BE49-F238E27FC236}">
                <a16:creationId xmlns:a16="http://schemas.microsoft.com/office/drawing/2014/main" id="{8C6D5AA1-3725-4C45-A2EE-51DB74D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Codex conversacional com ferramentas locais de desenvolvimento.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2DA21-6C45-4E09-8F23-C11501DD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8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541C1-A1FD-4305-8885-3B1C1F2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5" name="TrainForge / SeNAS 2026.2">
            <a:extLst xmlns:a="http://schemas.openxmlformats.org/drawingml/2006/main">
              <a:ext uri="{FF2B5EF4-FFF2-40B4-BE49-F238E27FC236}">
                <a16:creationId xmlns:a16="http://schemas.microsoft.com/office/drawing/2014/main" id="{215B0AF8-3660-4EDA-9396-75DBF58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TrainForge / SeNAS 2026.2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C33FE714-660E-4EA4-9AF8-8BCA6CD7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C518870E-12C9-4413-9EDA-33C17E7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Contextualizar">
            <a:extLst xmlns:a="http://schemas.openxmlformats.org/drawingml/2006/main">
              <a:ext uri="{FF2B5EF4-FFF2-40B4-BE49-F238E27FC236}">
                <a16:creationId xmlns:a16="http://schemas.microsoft.com/office/drawing/2014/main" id="{D290D44F-7266-4898-87F2-EBEBDA53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Contextualizar</a:t>
            </a:r>
          </a:p>
        </p:txBody>
      </p:sp>
      <p:sp>
        <p:nvSpPr>
          <p:cNvPr id="9" name="Ler documentos&#10;e código do projeto.">
            <a:extLst xmlns:a="http://schemas.openxmlformats.org/drawingml/2006/main">
              <a:ext uri="{FF2B5EF4-FFF2-40B4-BE49-F238E27FC236}">
                <a16:creationId xmlns:a16="http://schemas.microsoft.com/office/drawing/2014/main" id="{0D11D40C-1C58-4848-8AAD-D3242A15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2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Ler documentos</a:t>
            </a:r>
          </a:p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 código do projeto.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AB4F000D-1679-4C95-9010-C71EB444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947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947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ropor">
            <a:extLst xmlns:a="http://schemas.openxmlformats.org/drawingml/2006/main">
              <a:ext uri="{FF2B5EF4-FFF2-40B4-BE49-F238E27FC236}">
                <a16:creationId xmlns:a16="http://schemas.microsoft.com/office/drawing/2014/main" id="{1090537C-1734-4B42-88DA-CBF88CC6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Propor</a:t>
            </a:r>
          </a:p>
        </p:txBody>
      </p:sp>
      <p:sp>
        <p:nvSpPr>
          <p:cNvPr id="12" name="Avaliar opções&#10;e implementar.">
            <a:extLst xmlns:a="http://schemas.openxmlformats.org/drawingml/2006/main">
              <a:ext uri="{FF2B5EF4-FFF2-40B4-BE49-F238E27FC236}">
                <a16:creationId xmlns:a16="http://schemas.microsoft.com/office/drawing/2014/main" id="{22B1813A-DE9D-4097-B31F-D325CF07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52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Avaliar opções</a:t>
            </a:r>
          </a:p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 implementar.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D67449D9-F245-47AA-9914-2477BF2D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Validar">
            <a:extLst xmlns:a="http://schemas.openxmlformats.org/drawingml/2006/main">
              <a:ext uri="{FF2B5EF4-FFF2-40B4-BE49-F238E27FC236}">
                <a16:creationId xmlns:a16="http://schemas.microsoft.com/office/drawing/2014/main" id="{FA6538DE-B523-4F53-BD71-3FEFFA30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5" name="Revisar, testar&#10;e conferir fontes.">
            <a:extLst xmlns:a="http://schemas.openxmlformats.org/drawingml/2006/main">
              <a:ext uri="{FF2B5EF4-FFF2-40B4-BE49-F238E27FC236}">
                <a16:creationId xmlns:a16="http://schemas.microsoft.com/office/drawing/2014/main" id="{C74977C2-7628-41E1-93E6-793C87AD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52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Revisar, testar</a:t>
            </a:r>
          </a:p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 conferir fontes.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44F83B55-E158-463D-9C97-78D83F76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947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947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gistrar">
            <a:extLst xmlns:a="http://schemas.openxmlformats.org/drawingml/2006/main">
              <a:ext uri="{FF2B5EF4-FFF2-40B4-BE49-F238E27FC236}">
                <a16:creationId xmlns:a16="http://schemas.microsoft.com/office/drawing/2014/main" id="{A1F7189E-02FD-4CFF-BFDA-CBCD9BC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2420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429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8" name="Guardar decisões&#10;e evidências.">
            <a:extLst xmlns:a="http://schemas.openxmlformats.org/drawingml/2006/main">
              <a:ext uri="{FF2B5EF4-FFF2-40B4-BE49-F238E27FC236}">
                <a16:creationId xmlns:a16="http://schemas.microsoft.com/office/drawing/2014/main" id="{C11939F7-5846-455A-BB11-72F5C86D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14750"/>
            <a:ext cx="252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Guardar decisões</a:t>
            </a:r>
          </a:p>
          <a:p xmlns:a="http://schemas.openxmlformats.org/drawingml/2006/main">
            <a:pPr algn="l">
              <a:defRPr sz="1800" b="0">
                <a:solidFill>
                  <a:srgbClr val="606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068"/>
                </a:solidFill>
                <a:latin typeface="Arial"/>
                <a:ea typeface="Arial"/>
                <a:cs typeface="Arial"/>
              </a:rPr>
              <a:t>e evidências.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41BDE-2A55-4342-B079-9AD9DEA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8"/>
          </a:solidFill>
          <a:ln xmlns:a="http://schemas.openxmlformats.org/drawingml/2006/main" w="0">
            <a:noFill/>
          </a:ln>
        </p:spPr>
      </p:sp>
      <p:sp>
        <p:nvSpPr>
          <p:cNvPr id="20" name="Responsabilidade da equipe">
            <a:extLst xmlns:a="http://schemas.openxmlformats.org/drawingml/2006/main">
              <a:ext uri="{FF2B5EF4-FFF2-40B4-BE49-F238E27FC236}">
                <a16:creationId xmlns:a16="http://schemas.microsoft.com/office/drawing/2014/main" id="{BEE30AE3-6D3A-4853-A39B-1879DCE7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418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4185B"/>
                </a:solidFill>
                <a:latin typeface="Arial"/>
                <a:ea typeface="Arial"/>
                <a:cs typeface="Arial"/>
              </a:rPr>
              <a:t>Responsabilidade da equipe</a:t>
            </a:r>
          </a:p>
        </p:txBody>
      </p:sp>
      <p:sp>
        <p:nvSpPr>
          <p:cNvPr id="21" name="Revisar as respostas e aprovar as decisões.&#10;Conteúdo de treino previst">
            <a:extLst xmlns:a="http://schemas.openxmlformats.org/drawingml/2006/main">
              <a:ext uri="{FF2B5EF4-FFF2-40B4-BE49-F238E27FC236}">
                <a16:creationId xmlns:a16="http://schemas.microsoft.com/office/drawing/2014/main" id="{658F86CE-2E9C-4851-84BD-B25E7A5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Revisar as respostas e aprovar as decisões.</a:t>
            </a:r>
          </a:p>
          <a:p xmlns:a="http://schemas.openxmlformats.org/drawingml/2006/main">
            <a:pPr algn="l">
              <a:defRPr sz="1650" b="0">
                <a:solidFill>
                  <a:srgbClr val="2424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9"/>
                </a:solidFill>
                <a:latin typeface="Arial"/>
                <a:ea typeface="Arial"/>
                <a:cs typeface="Arial"/>
              </a:rPr>
              <a:t>Conteúdo de treino previsto: programas humanos com origem verificável.</a:t>
            </a:r>
          </a:p>
        </p:txBody>
      </p:sp>
    </p:spTree>
    <p:extLst>
      <p:ext uri="{BB962C8B-B14F-4D97-AF65-F5344CB8AC3E}">
        <p14:creationId xmlns:p14="http://schemas.microsoft.com/office/powerpoint/2010/main" val="1753118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2026-09-30T02:35:43.6950000Z</dcterms:created>
  <dcterms:modified xsi:type="dcterms:W3CDTF">2026-09-30T02:35:43.6950000Z</dcterms:modified>
</coreProperties>
</file>